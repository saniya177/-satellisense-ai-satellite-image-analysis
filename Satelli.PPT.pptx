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0" r:id="rId3"/>
    <p:sldId id="259" r:id="rId4"/>
    <p:sldId id="262" r:id="rId5"/>
    <p:sldId id="258" r:id="rId6"/>
    <p:sldId id="263" r:id="rId7"/>
    <p:sldId id="264" r:id="rId8"/>
    <p:sldId id="270" r:id="rId9"/>
    <p:sldId id="265" r:id="rId10"/>
    <p:sldId id="269" r:id="rId11"/>
    <p:sldId id="271" r:id="rId12"/>
    <p:sldId id="278" r:id="rId13"/>
    <p:sldId id="285" r:id="rId14"/>
    <p:sldId id="276" r:id="rId15"/>
    <p:sldId id="280" r:id="rId16"/>
    <p:sldId id="281" r:id="rId17"/>
    <p:sldId id="272" r:id="rId18"/>
    <p:sldId id="273" r:id="rId19"/>
    <p:sldId id="274" r:id="rId20"/>
    <p:sldId id="283" r:id="rId21"/>
  </p:sldIdLst>
  <p:sldSz cx="9144000" cy="5143500" type="screen16x9"/>
  <p:notesSz cx="20104100" cy="11309350"/>
  <p:embeddedFontLst>
    <p:embeddedFont>
      <p:font typeface="Playfair Display" panose="00000500000000000000" pitchFamily="2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41">
          <p15:clr>
            <a:srgbClr val="A4A3A4"/>
          </p15:clr>
        </p15:guide>
        <p15:guide id="2" pos="281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9" roundtripDataSignature="AMtx7mgjk0mn2LUDAVoB9P1Uk0xWjp6x2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243CE49-5F6F-4FB4-BF77-D29D45386ABF}">
  <a:tblStyle styleId="{6243CE49-5F6F-4FB4-BF77-D29D45386ABF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116" y="78"/>
      </p:cViewPr>
      <p:guideLst>
        <p:guide orient="horz" pos="341"/>
        <p:guide pos="2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351350" y="848200"/>
            <a:ext cx="13403400" cy="4241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2010400" y="5371925"/>
            <a:ext cx="16083275" cy="50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" name="Google Shape;2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b8650c8caf_0_14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9" name="Google Shape;69;g3b8650c8caf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b8650c8caf_0_128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56" name="Google Shape;56;g3b8650c8caf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2" name="Google Shape;9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b8650c8caf_0_76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3" name="Google Shape;43;g3b8650c8caf_0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8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9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4" name="Google Shape;11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f30f55466_2_8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g3af30f55466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0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5" name="Google Shape;12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0" name="Google Shape;17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3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2" name="Google Shape;1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54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3" name="Google Shape;273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59554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8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1" name="Google Shape;251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97" name="Google Shape;297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b8650c8caf_0_193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00" cy="44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08" name="Google Shape;308;g3b8650c8caf_0_1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5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4" name="Google Shape;20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6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7" name="Google Shape;21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7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29" name="Google Shape;2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60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334" name="Google Shape;334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62"/>
          <p:cNvSpPr txBox="1">
            <a:spLocks noGrp="1"/>
          </p:cNvSpPr>
          <p:nvPr>
            <p:ph type="ftr" idx="11"/>
          </p:nvPr>
        </p:nvSpPr>
        <p:spPr>
          <a:xfrm>
            <a:off x="3109134" y="4783224"/>
            <a:ext cx="29257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62"/>
          <p:cNvSpPr txBox="1">
            <a:spLocks noGrp="1"/>
          </p:cNvSpPr>
          <p:nvPr>
            <p:ph type="dt" idx="10"/>
          </p:nvPr>
        </p:nvSpPr>
        <p:spPr>
          <a:xfrm>
            <a:off x="457056" y="4783224"/>
            <a:ext cx="21033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62"/>
          <p:cNvSpPr txBox="1">
            <a:spLocks noGrp="1"/>
          </p:cNvSpPr>
          <p:nvPr>
            <p:ph type="sldNum" idx="12"/>
          </p:nvPr>
        </p:nvSpPr>
        <p:spPr>
          <a:xfrm>
            <a:off x="6583622" y="4783224"/>
            <a:ext cx="2103322" cy="126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98989"/>
              </a:buClr>
              <a:buSzPts val="1800"/>
              <a:buFont typeface="Calibri"/>
              <a:buNone/>
              <a:defRPr sz="818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1"/>
          <p:cNvSpPr/>
          <p:nvPr/>
        </p:nvSpPr>
        <p:spPr>
          <a:xfrm>
            <a:off x="0" y="5137724"/>
            <a:ext cx="9144000" cy="0"/>
          </a:xfrm>
          <a:custGeom>
            <a:avLst/>
            <a:gdLst/>
            <a:ahLst/>
            <a:cxnLst/>
            <a:rect l="l" t="t" r="r" b="b"/>
            <a:pathLst>
              <a:path w="20104100" h="120000" extrusionOk="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w="22850" cap="flat" cmpd="sng">
            <a:solidFill>
              <a:srgbClr val="E76A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61"/>
          <p:cNvSpPr/>
          <p:nvPr/>
        </p:nvSpPr>
        <p:spPr>
          <a:xfrm>
            <a:off x="0" y="5127616"/>
            <a:ext cx="9131003" cy="0"/>
          </a:xfrm>
          <a:custGeom>
            <a:avLst/>
            <a:gdLst/>
            <a:ahLst/>
            <a:cxnLst/>
            <a:rect l="l" t="t" r="r" b="b"/>
            <a:pathLst>
              <a:path w="20076160" h="120000" extrusionOk="0">
                <a:moveTo>
                  <a:pt x="0" y="0"/>
                </a:moveTo>
                <a:lnTo>
                  <a:pt x="20076037" y="0"/>
                </a:lnTo>
              </a:path>
            </a:pathLst>
          </a:custGeom>
          <a:noFill/>
          <a:ln w="22850" cap="flat" cmpd="sng">
            <a:solidFill>
              <a:srgbClr val="E76A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61"/>
          <p:cNvSpPr/>
          <p:nvPr/>
        </p:nvSpPr>
        <p:spPr>
          <a:xfrm>
            <a:off x="12997" y="21660"/>
            <a:ext cx="0" cy="5100180"/>
          </a:xfrm>
          <a:custGeom>
            <a:avLst/>
            <a:gdLst/>
            <a:ahLst/>
            <a:cxnLst/>
            <a:rect l="l" t="t" r="r" b="b"/>
            <a:pathLst>
              <a:path w="120000" h="11215370" extrusionOk="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w="56200" cap="flat" cmpd="sng">
            <a:solidFill>
              <a:srgbClr val="E76A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9;p61"/>
          <p:cNvSpPr/>
          <p:nvPr/>
        </p:nvSpPr>
        <p:spPr>
          <a:xfrm>
            <a:off x="0" y="10830"/>
            <a:ext cx="9144000" cy="0"/>
          </a:xfrm>
          <a:custGeom>
            <a:avLst/>
            <a:gdLst/>
            <a:ahLst/>
            <a:cxnLst/>
            <a:rect l="l" t="t" r="r" b="b"/>
            <a:pathLst>
              <a:path w="20104100" h="120000" extrusionOk="0">
                <a:moveTo>
                  <a:pt x="0" y="0"/>
                </a:moveTo>
                <a:lnTo>
                  <a:pt x="20104099" y="0"/>
                </a:lnTo>
              </a:path>
            </a:pathLst>
          </a:custGeom>
          <a:noFill/>
          <a:ln w="46975" cap="flat" cmpd="sng">
            <a:solidFill>
              <a:srgbClr val="E76A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61"/>
          <p:cNvSpPr/>
          <p:nvPr/>
        </p:nvSpPr>
        <p:spPr>
          <a:xfrm>
            <a:off x="9131003" y="5121841"/>
            <a:ext cx="12997" cy="10830"/>
          </a:xfrm>
          <a:custGeom>
            <a:avLst/>
            <a:gdLst/>
            <a:ahLst/>
            <a:cxnLst/>
            <a:rect l="l" t="t" r="r" b="b"/>
            <a:pathLst>
              <a:path w="28575" h="22859" extrusionOk="0">
                <a:moveTo>
                  <a:pt x="0" y="22856"/>
                </a:moveTo>
                <a:lnTo>
                  <a:pt x="28061" y="22856"/>
                </a:lnTo>
                <a:lnTo>
                  <a:pt x="28061" y="0"/>
                </a:lnTo>
                <a:lnTo>
                  <a:pt x="0" y="0"/>
                </a:lnTo>
                <a:lnTo>
                  <a:pt x="0" y="22856"/>
                </a:lnTo>
                <a:close/>
              </a:path>
            </a:pathLst>
          </a:custGeom>
          <a:solidFill>
            <a:srgbClr val="E76A81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61"/>
          <p:cNvSpPr/>
          <p:nvPr/>
        </p:nvSpPr>
        <p:spPr>
          <a:xfrm>
            <a:off x="9131003" y="21660"/>
            <a:ext cx="0" cy="5100180"/>
          </a:xfrm>
          <a:custGeom>
            <a:avLst/>
            <a:gdLst/>
            <a:ahLst/>
            <a:cxnLst/>
            <a:rect l="l" t="t" r="r" b="b"/>
            <a:pathLst>
              <a:path w="120000" h="11215370" extrusionOk="0">
                <a:moveTo>
                  <a:pt x="0" y="0"/>
                </a:moveTo>
                <a:lnTo>
                  <a:pt x="0" y="11215370"/>
                </a:lnTo>
              </a:path>
            </a:pathLst>
          </a:custGeom>
          <a:noFill/>
          <a:ln w="56175" cap="flat" cmpd="sng">
            <a:solidFill>
              <a:srgbClr val="E76A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61"/>
          <p:cNvSpPr txBox="1">
            <a:spLocks noGrp="1"/>
          </p:cNvSpPr>
          <p:nvPr>
            <p:ph type="title"/>
          </p:nvPr>
        </p:nvSpPr>
        <p:spPr>
          <a:xfrm>
            <a:off x="264269" y="185554"/>
            <a:ext cx="861546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61"/>
          <p:cNvSpPr txBox="1">
            <a:spLocks noGrp="1"/>
          </p:cNvSpPr>
          <p:nvPr>
            <p:ph type="body" idx="1"/>
          </p:nvPr>
        </p:nvSpPr>
        <p:spPr>
          <a:xfrm>
            <a:off x="1249141" y="1188406"/>
            <a:ext cx="6645718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8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4" name="Google Shape;14;p61"/>
          <p:cNvSpPr txBox="1">
            <a:spLocks noGrp="1"/>
          </p:cNvSpPr>
          <p:nvPr>
            <p:ph type="ftr" idx="11"/>
          </p:nvPr>
        </p:nvSpPr>
        <p:spPr>
          <a:xfrm>
            <a:off x="3109134" y="4783225"/>
            <a:ext cx="2925733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61"/>
          <p:cNvSpPr txBox="1">
            <a:spLocks noGrp="1"/>
          </p:cNvSpPr>
          <p:nvPr>
            <p:ph type="dt" idx="10"/>
          </p:nvPr>
        </p:nvSpPr>
        <p:spPr>
          <a:xfrm>
            <a:off x="457056" y="4783225"/>
            <a:ext cx="21033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61"/>
          <p:cNvSpPr txBox="1">
            <a:spLocks noGrp="1"/>
          </p:cNvSpPr>
          <p:nvPr>
            <p:ph type="sldNum" idx="12"/>
          </p:nvPr>
        </p:nvSpPr>
        <p:spPr>
          <a:xfrm>
            <a:off x="6583622" y="4783225"/>
            <a:ext cx="2103322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98989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jpeg"/><Relationship Id="rId5" Type="http://schemas.openxmlformats.org/officeDocument/2006/relationships/image" Target="../media/image6.jpeg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" name="Google Shape;28;p1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 txBox="1"/>
          <p:nvPr/>
        </p:nvSpPr>
        <p:spPr>
          <a:xfrm>
            <a:off x="262375" y="843229"/>
            <a:ext cx="8577900" cy="35734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575" tIns="20775" rIns="41575" bIns="2077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Electronics and Instrumentation Engineering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1" i="0" u="none" strike="noStrike" cap="none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PRESENTATION</a:t>
            </a:r>
            <a:br>
              <a:rPr lang="en-US" sz="20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0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(EI376SI)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SATELLISENSE: AN AI-DRIVEN DASHBOARD FOR SATELLITE IMAGE ANALYSIS USING LARGE LANGUAGE MODELS</a:t>
            </a:r>
            <a:endParaRPr sz="1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1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400" b="1" i="0" u="none" strike="noStrike" cap="none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lang="en-US" sz="1637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Name: SANIYA U</a:t>
            </a:r>
            <a:endParaRPr sz="1637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lang="en-US" sz="1637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USN: 1RV22EI046</a:t>
            </a:r>
            <a:endParaRPr sz="1637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5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lang="en-US" sz="1637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Guide:</a:t>
            </a:r>
            <a:r>
              <a:rPr lang="en-US" sz="1637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Dr.Smrithi Srivastava</a:t>
            </a:r>
            <a:endParaRPr sz="1637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37"/>
              <a:buFont typeface="Arial"/>
              <a:buNone/>
            </a:pPr>
            <a:r>
              <a:rPr lang="en-US" sz="1637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Date of Presentation: 9/2/2026            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" name="Google Shape;30;p1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8650c8caf_0_141"/>
          <p:cNvSpPr txBox="1"/>
          <p:nvPr/>
        </p:nvSpPr>
        <p:spPr>
          <a:xfrm>
            <a:off x="0" y="0"/>
            <a:ext cx="9143400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g3b8650c8caf_0_141"/>
          <p:cNvSpPr txBox="1"/>
          <p:nvPr/>
        </p:nvSpPr>
        <p:spPr>
          <a:xfrm>
            <a:off x="2548967" y="607921"/>
            <a:ext cx="66300" cy="6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g3b8650c8caf_0_141"/>
          <p:cNvSpPr txBox="1"/>
          <p:nvPr/>
        </p:nvSpPr>
        <p:spPr>
          <a:xfrm>
            <a:off x="1141075" y="327787"/>
            <a:ext cx="19683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5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5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g3b8650c8caf_0_141"/>
          <p:cNvSpPr txBox="1"/>
          <p:nvPr/>
        </p:nvSpPr>
        <p:spPr>
          <a:xfrm>
            <a:off x="7330747" y="185553"/>
            <a:ext cx="15486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5" name="Google Shape;75;g3b8650c8caf_0_141"/>
          <p:cNvPicPr preferRelativeResize="0"/>
          <p:nvPr/>
        </p:nvPicPr>
        <p:blipFill rotWithShape="1">
          <a:blip r:embed="rId4">
            <a:alphaModFix/>
          </a:blip>
          <a:srcRect t="27130" r="52736" b="6923"/>
          <a:stretch/>
        </p:blipFill>
        <p:spPr>
          <a:xfrm>
            <a:off x="-192921" y="93571"/>
            <a:ext cx="2808311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g3b8650c8caf_0_141"/>
          <p:cNvSpPr txBox="1"/>
          <p:nvPr/>
        </p:nvSpPr>
        <p:spPr>
          <a:xfrm>
            <a:off x="1685829" y="177794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7" name="Google Shape;77;g3b8650c8caf_0_141"/>
          <p:cNvCxnSpPr/>
          <p:nvPr/>
        </p:nvCxnSpPr>
        <p:spPr>
          <a:xfrm flipH="1">
            <a:off x="231328" y="813651"/>
            <a:ext cx="86481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g3b8650c8caf_0_141"/>
          <p:cNvSpPr txBox="1"/>
          <p:nvPr/>
        </p:nvSpPr>
        <p:spPr>
          <a:xfrm>
            <a:off x="231228" y="1075595"/>
            <a:ext cx="864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" name="Google Shape;79;g3b8650c8caf_0_141"/>
          <p:cNvSpPr/>
          <p:nvPr/>
        </p:nvSpPr>
        <p:spPr>
          <a:xfrm flipH="1">
            <a:off x="119250" y="901236"/>
            <a:ext cx="8905500" cy="400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98E48F-A9B1-2F12-AC57-68053C5180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8567" y="1430170"/>
            <a:ext cx="8793422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was carried out at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Centre of Excellence in Cognitive Intelligent Systems for Sustainable Solutions (CISSS)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RV College of Engineering, which focuses on AI-driven solutions for societal and environmental challenges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satellite missions, large volumes of geospatial data are generated daily, but extracting meaningful insights remains complex and skill-intensive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internship focused on leveraging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(LLMs)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simplify satellite image interpretation through natural language interaction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SatelliSense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developed as an AI-driven platform that integrates satellite image processing with LLMs to provide automated, interactive, and user-friendly geospatial analysis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demonstrates how AI can improve accessibility, interpretability, and real-world usability of satellite data for both technical and non-technical users.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8650c8caf_0_128"/>
          <p:cNvSpPr txBox="1"/>
          <p:nvPr/>
        </p:nvSpPr>
        <p:spPr>
          <a:xfrm>
            <a:off x="-16422" y="0"/>
            <a:ext cx="9143400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59" name="Google Shape;59;g3b8650c8caf_0_128"/>
          <p:cNvSpPr txBox="1"/>
          <p:nvPr/>
        </p:nvSpPr>
        <p:spPr>
          <a:xfrm>
            <a:off x="2548967" y="607921"/>
            <a:ext cx="66300" cy="6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b8650c8caf_0_128"/>
          <p:cNvSpPr txBox="1"/>
          <p:nvPr/>
        </p:nvSpPr>
        <p:spPr>
          <a:xfrm>
            <a:off x="1141075" y="327787"/>
            <a:ext cx="19683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5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5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1" name="Google Shape;61;g3b8650c8caf_0_128"/>
          <p:cNvSpPr txBox="1"/>
          <p:nvPr/>
        </p:nvSpPr>
        <p:spPr>
          <a:xfrm>
            <a:off x="7330747" y="185553"/>
            <a:ext cx="15486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2" name="Google Shape;62;g3b8650c8caf_0_128"/>
          <p:cNvPicPr preferRelativeResize="0"/>
          <p:nvPr/>
        </p:nvPicPr>
        <p:blipFill rotWithShape="1">
          <a:blip r:embed="rId4">
            <a:alphaModFix/>
          </a:blip>
          <a:srcRect t="27130" r="52736" b="6923"/>
          <a:stretch/>
        </p:blipFill>
        <p:spPr>
          <a:xfrm>
            <a:off x="-192921" y="93571"/>
            <a:ext cx="2808311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g3b8650c8caf_0_128"/>
          <p:cNvSpPr txBox="1"/>
          <p:nvPr/>
        </p:nvSpPr>
        <p:spPr>
          <a:xfrm>
            <a:off x="1559047" y="177794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About the Organization – </a:t>
            </a:r>
            <a:r>
              <a:rPr lang="en-US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HPCC</a:t>
            </a:r>
            <a:endParaRPr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64" name="Google Shape;64;g3b8650c8caf_0_128"/>
          <p:cNvCxnSpPr/>
          <p:nvPr/>
        </p:nvCxnSpPr>
        <p:spPr>
          <a:xfrm flipH="1">
            <a:off x="231328" y="813651"/>
            <a:ext cx="86481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g3b8650c8caf_0_128"/>
          <p:cNvSpPr txBox="1"/>
          <p:nvPr/>
        </p:nvSpPr>
        <p:spPr>
          <a:xfrm>
            <a:off x="39122" y="874478"/>
            <a:ext cx="8994228" cy="4055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873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RVCE–HPCC Systems Centre of Excellence follows a collaborative, low-hierarchy organizational structure that encourages open communication, cross-functional teamwork, and idea-driven decision making. This flexible approach supports rapid execution, iterative development, and scalable innovation in research-oriented internship projects.</a:t>
            </a:r>
            <a:endParaRPr lang="en-US" sz="1600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3873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Centre develops high-quality, scalable software solutions with a strong focus on backend systems and clean architecture. All products are designed to be user-centric, configurable, and maintainable to meet real-world engineering needs.</a:t>
            </a:r>
          </a:p>
          <a:p>
            <a:pPr marL="3873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RVCE–HPCC Systems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services in system architecture, backend development, API engineering and technical mentorship. These services emphasize scalability, performance, security, and industry-aligned development practices.</a:t>
            </a:r>
          </a:p>
          <a:p>
            <a:pPr marL="3873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Centre functions as an academic–industry collaborative initiative rather than a commercial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enterprise.It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engages with industry experts and institutions for mentorship, technical guidance, and real-world exposure.</a:t>
            </a:r>
          </a:p>
          <a:p>
            <a:pPr marL="3873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Centre follows structured development methodologies, clean architecture principles, and consistent documentation standards. Ethical engineering, secure implementation, and continuous testing are integral parts of its professional practices.</a:t>
            </a:r>
            <a:endParaRPr sz="1600" b="0" i="0" u="none" strike="noStrike" cap="none" dirty="0">
              <a:solidFill>
                <a:srgbClr val="00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66" name="Google Shape;66;g3b8650c8caf_0_128"/>
          <p:cNvSpPr/>
          <p:nvPr/>
        </p:nvSpPr>
        <p:spPr>
          <a:xfrm flipH="1">
            <a:off x="110650" y="1058300"/>
            <a:ext cx="8944800" cy="37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1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1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1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7" name="Google Shape;97;p31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8" name="Google Shape;98;p31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31"/>
          <p:cNvSpPr txBox="1"/>
          <p:nvPr/>
        </p:nvSpPr>
        <p:spPr>
          <a:xfrm>
            <a:off x="0" y="2107619"/>
            <a:ext cx="914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SATELLISENSE: AN AI-DRIVEN DASHBOARD FOR SATELLITE IMAGE ANALYSIS USING LARGE LANGUAGE MODELS</a:t>
            </a:r>
            <a:endParaRPr sz="24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b8650c8caf_0_76"/>
          <p:cNvSpPr txBox="1"/>
          <p:nvPr/>
        </p:nvSpPr>
        <p:spPr>
          <a:xfrm>
            <a:off x="0" y="0"/>
            <a:ext cx="9143400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b8650c8caf_0_76"/>
          <p:cNvSpPr txBox="1"/>
          <p:nvPr/>
        </p:nvSpPr>
        <p:spPr>
          <a:xfrm>
            <a:off x="2548967" y="607921"/>
            <a:ext cx="66300" cy="6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g3b8650c8caf_0_76"/>
          <p:cNvSpPr txBox="1"/>
          <p:nvPr/>
        </p:nvSpPr>
        <p:spPr>
          <a:xfrm>
            <a:off x="1141075" y="327787"/>
            <a:ext cx="19683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5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5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g3b8650c8caf_0_76"/>
          <p:cNvSpPr txBox="1"/>
          <p:nvPr/>
        </p:nvSpPr>
        <p:spPr>
          <a:xfrm>
            <a:off x="7330747" y="185553"/>
            <a:ext cx="15486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g3b8650c8caf_0_76"/>
          <p:cNvPicPr preferRelativeResize="0"/>
          <p:nvPr/>
        </p:nvPicPr>
        <p:blipFill rotWithShape="1">
          <a:blip r:embed="rId4">
            <a:alphaModFix/>
          </a:blip>
          <a:srcRect t="27130" r="52736" b="6923"/>
          <a:stretch/>
        </p:blipFill>
        <p:spPr>
          <a:xfrm>
            <a:off x="-192921" y="93571"/>
            <a:ext cx="2808311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b8650c8caf_0_76"/>
          <p:cNvSpPr txBox="1"/>
          <p:nvPr/>
        </p:nvSpPr>
        <p:spPr>
          <a:xfrm>
            <a:off x="1685829" y="177794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Introduction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51" name="Google Shape;51;g3b8650c8caf_0_76"/>
          <p:cNvCxnSpPr/>
          <p:nvPr/>
        </p:nvCxnSpPr>
        <p:spPr>
          <a:xfrm flipH="1">
            <a:off x="231328" y="813651"/>
            <a:ext cx="86481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" name="Google Shape;53;g3b8650c8caf_0_76"/>
          <p:cNvSpPr/>
          <p:nvPr/>
        </p:nvSpPr>
        <p:spPr>
          <a:xfrm flipH="1">
            <a:off x="231325" y="1058300"/>
            <a:ext cx="8648100" cy="364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5D78EDD-2679-34BC-4443-917F8662B3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9543" y="1213032"/>
            <a:ext cx="8703131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 helps us understand the Earth by tracking environmental changes, natural resources, and disaster situations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plays a key role in areas like disaster management, agriculture, water resource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monitoring, urban planning, and sustainability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satellite image analysis depends on complex software, heavy preprocessing, and expert knowledge, which limits access for many users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Recent advances in Artificial Intelligence, especially Large Language Models with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abilities, make satellite data easier to interpret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These models can analyze images, text, and spatial context together, enabling more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natural interaction with geospatial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AI-driven 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helps combines satellite image processing with LLM-based reasoning.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Through a simple, interactive dashboard, users can upload satellite images and receive clear, meaningful insights without deep technical expertise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 txBox="1"/>
          <p:nvPr/>
        </p:nvSpPr>
        <p:spPr>
          <a:xfrm>
            <a:off x="-16351" y="11289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imagery provides valuable geospatial information, but analyzing it effectively requires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specialized tools and expert knowledge. Existing approaches involve complex preprocessing and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manual interpretation, making them inaccessible to many users. There is a need for an intelligent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and scalable system that can automate satellite image analysis, support spatial and temporal evaluation,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and present results in a simple, user-friendly manner. The system should deliver clear, actionable 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r>
              <a:rPr lang="en-US" sz="1600" b="1" i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insights through AI-driven reasoning and interactive visualizations.</a:t>
            </a:r>
            <a:endParaRPr sz="1600" b="0" i="1" u="none" strike="noStrike" cap="none" dirty="0">
              <a:solidFill>
                <a:srgbClr val="FF0000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05" name="Google Shape;105;p8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8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" name="Google Shape;107;p8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8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8"/>
          <p:cNvSpPr txBox="1"/>
          <p:nvPr/>
        </p:nvSpPr>
        <p:spPr>
          <a:xfrm>
            <a:off x="288850" y="1160825"/>
            <a:ext cx="864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10" name="Google Shape;110;p8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1" name="Google Shape;111;p8"/>
          <p:cNvSpPr txBox="1"/>
          <p:nvPr/>
        </p:nvSpPr>
        <p:spPr>
          <a:xfrm>
            <a:off x="2995801" y="1765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9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9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9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0" name="Google Shape;120;p9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1" name="Google Shape;121;p9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2" name="Google Shape;122;p9"/>
          <p:cNvSpPr txBox="1"/>
          <p:nvPr/>
        </p:nvSpPr>
        <p:spPr>
          <a:xfrm>
            <a:off x="2813150" y="176575"/>
            <a:ext cx="4095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Objectives of the Project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E4505C7-DDA1-F245-6BA2-B0F7828CDF13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390630" y="1609934"/>
            <a:ext cx="848879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an intelligent system that automates satellite image analysis using Artificial Intelligence.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image understanding and interpretation by integrating multimodal Large Language Models for explainable and human-readable insights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multi-image, batch, and time-series analysis for detecting environmental changes.</a:t>
            </a:r>
          </a:p>
          <a:p>
            <a:pPr marL="28575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Wingdings" panose="05000000000000000000" pitchFamily="2" charset="2"/>
              <a:buChar char="Ø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an interactive dashboard with location-based visualization and natural language querying.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support disaster assessment, water resource analysis, and sustainable environmental monitoring through actionable insights.</a:t>
            </a: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f30f55466_2_8"/>
          <p:cNvSpPr txBox="1"/>
          <p:nvPr/>
        </p:nvSpPr>
        <p:spPr>
          <a:xfrm>
            <a:off x="0" y="0"/>
            <a:ext cx="9143400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af30f55466_2_8"/>
          <p:cNvSpPr txBox="1"/>
          <p:nvPr/>
        </p:nvSpPr>
        <p:spPr>
          <a:xfrm>
            <a:off x="2548967" y="607921"/>
            <a:ext cx="66300" cy="6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g3af30f55466_2_8"/>
          <p:cNvSpPr txBox="1"/>
          <p:nvPr/>
        </p:nvSpPr>
        <p:spPr>
          <a:xfrm>
            <a:off x="1141075" y="327787"/>
            <a:ext cx="19683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5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5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g3af30f55466_2_8"/>
          <p:cNvSpPr txBox="1"/>
          <p:nvPr/>
        </p:nvSpPr>
        <p:spPr>
          <a:xfrm>
            <a:off x="7330747" y="185553"/>
            <a:ext cx="15486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7" name="Google Shape;187;g3af30f55466_2_8"/>
          <p:cNvPicPr preferRelativeResize="0"/>
          <p:nvPr/>
        </p:nvPicPr>
        <p:blipFill rotWithShape="1">
          <a:blip r:embed="rId4">
            <a:alphaModFix/>
          </a:blip>
          <a:srcRect t="27130" r="52736" b="6923"/>
          <a:stretch/>
        </p:blipFill>
        <p:spPr>
          <a:xfrm>
            <a:off x="-191185" y="125825"/>
            <a:ext cx="2808311" cy="72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g3af30f55466_2_8"/>
          <p:cNvCxnSpPr/>
          <p:nvPr/>
        </p:nvCxnSpPr>
        <p:spPr>
          <a:xfrm flipH="1">
            <a:off x="231328" y="813651"/>
            <a:ext cx="86481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89" name="Google Shape;189;g3af30f55466_2_8"/>
          <p:cNvSpPr txBox="1"/>
          <p:nvPr/>
        </p:nvSpPr>
        <p:spPr>
          <a:xfrm>
            <a:off x="3072000" y="176550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B321E528-963C-21B9-ED02-379FB2617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78" y="805834"/>
            <a:ext cx="8755169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Satellite images are uploaded through the dashboard with selected analysis categories such as disaster or water body analysis.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uploaded images are preprocessed using normalization, resizing, and noise reduction to ensure consistent and reliable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Preprocessed images are passed to the core AI layer, where a multimodal Large Language Model analyzes visual patterns and contextual information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multimodal Large Language Model interprets the analysis results and generates natural language explanations.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intelligence modules apply time-series analysis, change detection, anomaly detection, and impact estimation on the processed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analyzed results are visualized through interactive maps, dashboards, and image previews for better spatial understanding.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Natural language queries allow users to interact with the system and extract insights in a simple, conversational manner.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All analysis results, images, and metadata are stored for history tracking, comparison, and long-term monitoring.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0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0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0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0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10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10"/>
          <p:cNvSpPr txBox="1"/>
          <p:nvPr/>
        </p:nvSpPr>
        <p:spPr>
          <a:xfrm>
            <a:off x="2995800" y="1765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Overview</a:t>
            </a:r>
            <a:endParaRPr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6D8EC2-7862-1EAD-E5D4-A9C6DA1C3E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182" y="1051770"/>
            <a:ext cx="8519245" cy="32932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SatelliSense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is an AI-driven platform designed to analyze satellite images and generate meaningful geospatial 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accepts satellite images as input and processes them using AI-based image analysis techniques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supports spatial, temporal, and multi-image analysis for detecting environmental changes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 interactive dashboard presents visual analytics, maps, and AI-generated summaries for easy decision-making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can interact with the system using natural language queries to explore satellite data intuitively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Models are integrated to interpret the analysis results and convert them into clear, human-readable insights.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3"/>
          <p:cNvSpPr txBox="1"/>
          <p:nvPr/>
        </p:nvSpPr>
        <p:spPr>
          <a:xfrm>
            <a:off x="8430" y="326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3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3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" name="Google Shape;175;p13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13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" name="Google Shape;177;p13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8" name="Google Shape;178;p13"/>
          <p:cNvSpPr txBox="1"/>
          <p:nvPr/>
        </p:nvSpPr>
        <p:spPr>
          <a:xfrm>
            <a:off x="3055326" y="176575"/>
            <a:ext cx="37848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Implementation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8037395-FAE4-0454-3110-ECF44D6D52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4177" y="1194811"/>
            <a:ext cx="8688827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1D1CDFEE-7CE1-7EC0-6567-17683F2F6C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04" y="935052"/>
            <a:ext cx="8648200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set of modern programming tools and AI frameworks were used to ensure accuracy, scalability, and reproducibility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primarily uses Python-based technologies for AI development, data processing, and system integration.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VS Code supported structured development, debugging, and testing.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Google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enabled cloud-based execution with GPU acceleration 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 and NumPy were used for data cleaning and transformation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Matplotlib and Seaborn supported performance visualization ,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were used for interactive dashboards and visual insights enabled natural language preprocessing.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Public datasets from Kaggle were used for experimentation data were used to store trained models and processed data Google Drive / Cloud storage was used for organized data management.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SatelliSense features an interactive web-based dashboard that allows users to upload satellite images and view results through maps, charts, and visual analytics.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Multimodal Large Language Models power the AI layer, enabling intelligent image interpretation, natural language querying, and explainable insights for decision support.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3"/>
          <p:cNvSpPr txBox="1"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experimental results demonstrate that SatelliSense successfully processes satellite images and generates meaningful geospatial insights in real time.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accurately identifies land-cover features, detects water bodies, and highlights disaster-affected regions.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such as multi-image comparison, time-series analysis, and anomaly detection significantly improve situational awareness.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map-based visualization enhances spatial understanding, while AI-driven explanations make results easily interpretable.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these interfaces collectively demonstrate the novelty of SatelliSense as a complete AI-powered geospatial intelligence system with unique features.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q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integration of interactive mapping, intelligent querying, water resource analytics, and anomaly detection transforms traditional satellite image analysis into a contextual, explainable, and decision-support driven platform. </a:t>
            </a:r>
          </a:p>
          <a:p>
            <a: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</a:pPr>
            <a:endParaRPr lang="en-US"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195" name="Google Shape;195;p23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3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" name="Google Shape;197;p23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8" name="Google Shape;198;p23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3"/>
          <p:cNvSpPr txBox="1"/>
          <p:nvPr/>
        </p:nvSpPr>
        <p:spPr>
          <a:xfrm>
            <a:off x="91325" y="837254"/>
            <a:ext cx="8960700" cy="2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145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0" name="Google Shape;200;p23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01" name="Google Shape;201;p23"/>
          <p:cNvSpPr txBox="1"/>
          <p:nvPr/>
        </p:nvSpPr>
        <p:spPr>
          <a:xfrm>
            <a:off x="2995750" y="1765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4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4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54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54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4"/>
          <p:cNvSpPr txBox="1"/>
          <p:nvPr/>
        </p:nvSpPr>
        <p:spPr>
          <a:xfrm>
            <a:off x="1685829" y="201419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</a:t>
            </a:r>
            <a:r>
              <a:rPr lang="en-US" sz="2400" b="1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Results</a:t>
            </a:r>
            <a:endParaRPr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1" name="Google Shape;281;p54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Image 37">
            <a:extLst>
              <a:ext uri="{FF2B5EF4-FFF2-40B4-BE49-F238E27FC236}">
                <a16:creationId xmlns:a16="http://schemas.microsoft.com/office/drawing/2014/main" id="{EB6E022F-0CE3-176B-A453-36242BE72666}"/>
              </a:ext>
            </a:extLst>
          </p:cNvPr>
          <p:cNvPicPr>
            <a:picLocks/>
          </p:cNvPicPr>
          <p:nvPr/>
        </p:nvPicPr>
        <p:blipFill>
          <a:blip r:embed="rId5" cstate="print"/>
          <a:srcRect l="6116" r="3760"/>
          <a:stretch/>
        </p:blipFill>
        <p:spPr>
          <a:xfrm>
            <a:off x="496711" y="948890"/>
            <a:ext cx="3912090" cy="1736725"/>
          </a:xfrm>
          <a:prstGeom prst="rect">
            <a:avLst/>
          </a:prstGeom>
        </p:spPr>
      </p:pic>
      <p:pic>
        <p:nvPicPr>
          <p:cNvPr id="6" name="Image 43">
            <a:extLst>
              <a:ext uri="{FF2B5EF4-FFF2-40B4-BE49-F238E27FC236}">
                <a16:creationId xmlns:a16="http://schemas.microsoft.com/office/drawing/2014/main" id="{ED1CD8A8-96CC-722B-758F-69C7C178A2CD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053165" y="846668"/>
            <a:ext cx="3413125" cy="1946275"/>
          </a:xfrm>
          <a:prstGeom prst="rect">
            <a:avLst/>
          </a:prstGeom>
        </p:spPr>
      </p:pic>
      <p:pic>
        <p:nvPicPr>
          <p:cNvPr id="7" name="Image 50">
            <a:extLst>
              <a:ext uri="{FF2B5EF4-FFF2-40B4-BE49-F238E27FC236}">
                <a16:creationId xmlns:a16="http://schemas.microsoft.com/office/drawing/2014/main" id="{729B13B0-1997-47E1-9068-E4BFD8939625}"/>
              </a:ext>
            </a:extLst>
          </p:cNvPr>
          <p:cNvPicPr>
            <a:picLocks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974846" y="3177413"/>
            <a:ext cx="4867910" cy="16383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85E5338-0FA6-9B46-91A3-B889FABCA789}"/>
              </a:ext>
            </a:extLst>
          </p:cNvPr>
          <p:cNvSpPr txBox="1"/>
          <p:nvPr/>
        </p:nvSpPr>
        <p:spPr>
          <a:xfrm>
            <a:off x="-497074" y="2704485"/>
            <a:ext cx="55428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04825" marR="315595" algn="ctr">
              <a:spcBef>
                <a:spcPts val="1070"/>
              </a:spcBef>
              <a:spcAft>
                <a:spcPts val="0"/>
              </a:spcAft>
            </a:pPr>
            <a:r>
              <a:rPr lang="en-US" sz="12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Login Interface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the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LLM-Based Satellite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Analysis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System.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61FAB3-C291-CADA-82BE-BE40C3B15C8F}"/>
              </a:ext>
            </a:extLst>
          </p:cNvPr>
          <p:cNvSpPr txBox="1"/>
          <p:nvPr/>
        </p:nvSpPr>
        <p:spPr>
          <a:xfrm>
            <a:off x="3792211" y="2715228"/>
            <a:ext cx="5377946" cy="1131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47065" marR="0" algn="ctr">
              <a:spcBef>
                <a:spcPts val="0"/>
              </a:spcBef>
              <a:spcAft>
                <a:spcPts val="0"/>
              </a:spcAft>
            </a:pPr>
            <a:r>
              <a:rPr lang="en-US" sz="1100" b="1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LLM-Based Interpretation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 Disaster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 for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Event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Identification</a:t>
            </a:r>
            <a:r>
              <a:rPr lang="en-US" sz="1100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11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885"/>
              </a:spcBef>
              <a:spcAft>
                <a:spcPts val="0"/>
              </a:spcAft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ABE3217-C472-8F6B-4F2E-3FB4817DBEE0}"/>
              </a:ext>
            </a:extLst>
          </p:cNvPr>
          <p:cNvSpPr txBox="1"/>
          <p:nvPr/>
        </p:nvSpPr>
        <p:spPr>
          <a:xfrm>
            <a:off x="1211235" y="4806605"/>
            <a:ext cx="735703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3080">
              <a:spcBef>
                <a:spcPts val="5"/>
              </a:spcBef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Modules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Available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the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LLM-Based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Dashboard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Enhanced</a:t>
            </a:r>
            <a:r>
              <a:rPr lang="en-US" spc="-10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</a:rPr>
              <a:t>Functional</a:t>
            </a:r>
            <a:r>
              <a:rPr lang="en-US" spc="-1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marR="0">
              <a:spcBef>
                <a:spcPts val="640"/>
              </a:spcBef>
              <a:spcAft>
                <a:spcPts val="0"/>
              </a:spcAft>
            </a:pPr>
            <a:r>
              <a:rPr lang="en-US" sz="1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4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54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54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8" name="Google Shape;278;p54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9" name="Google Shape;279;p54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54"/>
          <p:cNvSpPr txBox="1"/>
          <p:nvPr/>
        </p:nvSpPr>
        <p:spPr>
          <a:xfrm>
            <a:off x="1685829" y="201419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Results</a:t>
            </a:r>
            <a:endParaRPr sz="2400" b="1" i="0" u="none" strike="noStrike" cap="none" dirty="0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81" name="Google Shape;281;p54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" name="Image 51">
            <a:extLst>
              <a:ext uri="{FF2B5EF4-FFF2-40B4-BE49-F238E27FC236}">
                <a16:creationId xmlns:a16="http://schemas.microsoft.com/office/drawing/2014/main" id="{9D48B706-8D61-888F-282A-CF93C6C1F04E}"/>
              </a:ext>
            </a:extLst>
          </p:cNvPr>
          <p:cNvPicPr>
            <a:picLocks/>
          </p:cNvPicPr>
          <p:nvPr/>
        </p:nvPicPr>
        <p:blipFill>
          <a:blip r:embed="rId5" cstate="print"/>
          <a:srcRect l="2634" t="3388" r="1351"/>
          <a:stretch/>
        </p:blipFill>
        <p:spPr>
          <a:xfrm>
            <a:off x="142615" y="916470"/>
            <a:ext cx="5183566" cy="2425720"/>
          </a:xfrm>
          <a:prstGeom prst="rect">
            <a:avLst/>
          </a:prstGeom>
        </p:spPr>
      </p:pic>
      <p:pic>
        <p:nvPicPr>
          <p:cNvPr id="6" name="Image 54">
            <a:extLst>
              <a:ext uri="{FF2B5EF4-FFF2-40B4-BE49-F238E27FC236}">
                <a16:creationId xmlns:a16="http://schemas.microsoft.com/office/drawing/2014/main" id="{0955AAB0-1A89-3DF4-5A40-EEC96E23F2F3}"/>
              </a:ext>
            </a:extLst>
          </p:cNvPr>
          <p:cNvPicPr>
            <a:picLocks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5389106" y="1765084"/>
            <a:ext cx="3582670" cy="25647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5A56AF-0796-E965-D589-F22C11CFE5F8}"/>
              </a:ext>
            </a:extLst>
          </p:cNvPr>
          <p:cNvSpPr txBox="1"/>
          <p:nvPr/>
        </p:nvSpPr>
        <p:spPr>
          <a:xfrm>
            <a:off x="-880165" y="3334705"/>
            <a:ext cx="733777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Interactive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Map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Visualization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Detected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Water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Body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with</a:t>
            </a:r>
            <a:r>
              <a:rPr lang="en-US" spc="-2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algn="ctr"/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Geospatial</a:t>
            </a:r>
            <a:r>
              <a:rPr lang="en-US" spc="-1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Location.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CD8227-377B-2404-3CC7-6E95152BBFFF}"/>
              </a:ext>
            </a:extLst>
          </p:cNvPr>
          <p:cNvSpPr txBox="1"/>
          <p:nvPr/>
        </p:nvSpPr>
        <p:spPr>
          <a:xfrm>
            <a:off x="3578946" y="4253114"/>
            <a:ext cx="5757333" cy="6258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59205" marR="0" algn="ctr">
              <a:spcBef>
                <a:spcPts val="775"/>
              </a:spcBef>
              <a:spcAft>
                <a:spcPts val="0"/>
              </a:spcAft>
            </a:pP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Statistical Comparison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of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Features Across</a:t>
            </a:r>
            <a:r>
              <a:rPr lang="en-US" spc="-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</a:p>
          <a:p>
            <a:pPr marL="1259205" marR="0" algn="ctr">
              <a:spcBef>
                <a:spcPts val="775"/>
              </a:spcBef>
              <a:spcAft>
                <a:spcPts val="0"/>
              </a:spcAft>
            </a:pPr>
            <a:r>
              <a:rPr lang="en-US" spc="-5" dirty="0">
                <a:latin typeface="Times New Roman" panose="02020603050405020304" pitchFamily="18" charset="0"/>
                <a:ea typeface="Times New Roman" panose="02020603050405020304" pitchFamily="18" charset="0"/>
              </a:rPr>
              <a:t>            </a:t>
            </a:r>
            <a:r>
              <a:rPr 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Multiple </a:t>
            </a:r>
            <a:r>
              <a:rPr lang="en-US" spc="-1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Images</a:t>
            </a:r>
            <a:endParaRPr lang="en-US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82606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8"/>
          <p:cNvSpPr txBox="1"/>
          <p:nvPr/>
        </p:nvSpPr>
        <p:spPr>
          <a:xfrm>
            <a:off x="642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lang="en-US" sz="818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8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8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28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57" name="Google Shape;257;p28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8"/>
          <p:cNvSpPr txBox="1"/>
          <p:nvPr/>
        </p:nvSpPr>
        <p:spPr>
          <a:xfrm>
            <a:off x="231225" y="1076875"/>
            <a:ext cx="8648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59" name="Google Shape;259;p28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0" name="Google Shape;260;p28"/>
          <p:cNvSpPr txBox="1"/>
          <p:nvPr/>
        </p:nvSpPr>
        <p:spPr>
          <a:xfrm>
            <a:off x="2548975" y="93575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EA3118-585C-6626-C8CC-ADC9500DF1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225" y="1360792"/>
            <a:ext cx="8648100" cy="28007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SatelliSense successfully demonstrates an AI-driven geospatial intelligence platform that simplifies satellite image analysis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integrating remote sensing with multimodal Large Language Models, the system converts complex satellite data into clear and actionable 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Advanced features such as time-series analysis, change detection, anomaly detection, and intelligent querying enhance real-world usability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Interactive map-based visualization improves spatial understanding and decision support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contributes to sustainable environmental monitoring, disaster management, and resource planning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a modular and scalable architecture, SatelliSense lays the foundation for future AI-powered geospatial applications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7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57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57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2" name="Google Shape;302;p57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3" name="Google Shape;303;p57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57"/>
          <p:cNvSpPr txBox="1"/>
          <p:nvPr/>
        </p:nvSpPr>
        <p:spPr>
          <a:xfrm>
            <a:off x="1969608" y="188696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Internship Certificate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05" name="Google Shape;305;p57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" name="Image 16">
            <a:extLst>
              <a:ext uri="{FF2B5EF4-FFF2-40B4-BE49-F238E27FC236}">
                <a16:creationId xmlns:a16="http://schemas.microsoft.com/office/drawing/2014/main" id="{822DADF7-4F7D-D327-4BF2-27A7A34BE21F}"/>
              </a:ext>
            </a:extLst>
          </p:cNvPr>
          <p:cNvPicPr>
            <a:picLocks/>
          </p:cNvPicPr>
          <p:nvPr/>
        </p:nvPicPr>
        <p:blipFill>
          <a:blip r:embed="rId5" cstate="print"/>
          <a:srcRect l="732"/>
          <a:stretch/>
        </p:blipFill>
        <p:spPr>
          <a:xfrm>
            <a:off x="802073" y="882316"/>
            <a:ext cx="7303014" cy="416761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b8650c8caf_0_193"/>
          <p:cNvSpPr txBox="1"/>
          <p:nvPr/>
        </p:nvSpPr>
        <p:spPr>
          <a:xfrm>
            <a:off x="0" y="0"/>
            <a:ext cx="9143400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g3b8650c8caf_0_193"/>
          <p:cNvSpPr txBox="1"/>
          <p:nvPr/>
        </p:nvSpPr>
        <p:spPr>
          <a:xfrm>
            <a:off x="2548967" y="607921"/>
            <a:ext cx="66300" cy="672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g3b8650c8caf_0_193"/>
          <p:cNvSpPr txBox="1"/>
          <p:nvPr/>
        </p:nvSpPr>
        <p:spPr>
          <a:xfrm>
            <a:off x="1141075" y="327787"/>
            <a:ext cx="1968300" cy="63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5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5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3" name="Google Shape;313;g3b8650c8caf_0_193"/>
          <p:cNvSpPr txBox="1"/>
          <p:nvPr/>
        </p:nvSpPr>
        <p:spPr>
          <a:xfrm>
            <a:off x="7330747" y="185553"/>
            <a:ext cx="1548600" cy="2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5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4" name="Google Shape;314;g3b8650c8caf_0_193"/>
          <p:cNvPicPr preferRelativeResize="0"/>
          <p:nvPr/>
        </p:nvPicPr>
        <p:blipFill rotWithShape="1">
          <a:blip r:embed="rId4">
            <a:alphaModFix/>
          </a:blip>
          <a:srcRect t="27130" r="52736" b="6923"/>
          <a:stretch/>
        </p:blipFill>
        <p:spPr>
          <a:xfrm>
            <a:off x="-192921" y="93571"/>
            <a:ext cx="2808311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g3b8650c8caf_0_193"/>
          <p:cNvSpPr txBox="1"/>
          <p:nvPr/>
        </p:nvSpPr>
        <p:spPr>
          <a:xfrm>
            <a:off x="1685829" y="177794"/>
            <a:ext cx="577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Timeline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16" name="Google Shape;316;g3b8650c8caf_0_193"/>
          <p:cNvCxnSpPr/>
          <p:nvPr/>
        </p:nvCxnSpPr>
        <p:spPr>
          <a:xfrm flipH="1">
            <a:off x="231328" y="813651"/>
            <a:ext cx="8648100" cy="63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7" name="Google Shape;317;g3b8650c8caf_0_193"/>
          <p:cNvSpPr txBox="1"/>
          <p:nvPr/>
        </p:nvSpPr>
        <p:spPr>
          <a:xfrm>
            <a:off x="231228" y="1075595"/>
            <a:ext cx="8648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1841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18" name="Google Shape;318;g3b8650c8caf_0_193"/>
          <p:cNvGraphicFramePr/>
          <p:nvPr>
            <p:extLst>
              <p:ext uri="{D42A27DB-BD31-4B8C-83A1-F6EECF244321}">
                <p14:modId xmlns:p14="http://schemas.microsoft.com/office/powerpoint/2010/main" val="3581066430"/>
              </p:ext>
            </p:extLst>
          </p:nvPr>
        </p:nvGraphicFramePr>
        <p:xfrm>
          <a:off x="130379" y="809668"/>
          <a:ext cx="8882600" cy="4403097"/>
        </p:xfrm>
        <a:graphic>
          <a:graphicData uri="http://schemas.openxmlformats.org/drawingml/2006/table">
            <a:tbl>
              <a:tblPr>
                <a:noFill/>
                <a:tableStyleId>{6243CE49-5F6F-4FB4-BF77-D29D45386ABF}</a:tableStyleId>
              </a:tblPr>
              <a:tblGrid>
                <a:gridCol w="13033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792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Weeks</a:t>
                      </a:r>
                      <a:endParaRPr sz="1600" b="1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Summary of Activities Performed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1 – 4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Attended internship orientation and studied fundamentals of AI, machine learning, and satellite remote sensing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Identified project domain, finalized problem statement, objectives, and scope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Performed literature review, dataset study, and requirement specification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4452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5 – 8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Designed system workflow, preprocessing pipeline, and solution architecture.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Implemented CNN-based feature extraction and LLM-based inference modules.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Integrated modules, optimized performance, and validated system functionality.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4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n-US" sz="1600" b="1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Week 9 – 12</a:t>
                      </a:r>
                      <a:endParaRPr sz="1600" b="1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Conducted extensive testing and evaluated accuracy, explainability, and performance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Refined prompts, analyzed limitations, and enhanced system reliability</a:t>
                      </a:r>
                    </a:p>
                    <a:p>
                      <a:pPr marL="285750" indent="-285750" algn="just">
                        <a:buFont typeface="Arial" panose="020B0604020202020204" pitchFamily="34" charset="0"/>
                        <a:buChar char="•"/>
                      </a:pPr>
                      <a:r>
                        <a:rPr lang="en-US" sz="1600" dirty="0"/>
                        <a:t>Prepared final internship report, presentation, and completed project submission.</a:t>
                      </a: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5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25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25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25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0" name="Google Shape;210;p25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5"/>
          <p:cNvSpPr txBox="1"/>
          <p:nvPr/>
        </p:nvSpPr>
        <p:spPr>
          <a:xfrm>
            <a:off x="2148840" y="1890683"/>
            <a:ext cx="469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2" name="Google Shape;212;p25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3" name="Google Shape;213;p25"/>
          <p:cNvSpPr txBox="1"/>
          <p:nvPr/>
        </p:nvSpPr>
        <p:spPr>
          <a:xfrm>
            <a:off x="2413925" y="176563"/>
            <a:ext cx="45039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Technical Knowledge Acquired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" name="Google Shape;214;p25"/>
          <p:cNvSpPr txBox="1"/>
          <p:nvPr/>
        </p:nvSpPr>
        <p:spPr>
          <a:xfrm>
            <a:off x="-53150" y="730675"/>
            <a:ext cx="9097800" cy="42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B2B0AEC-486D-7E56-6496-50EBF2AB99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261" y="1520215"/>
            <a:ext cx="8460167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learning, computer vision, and natural language processing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analyze satellite images and generate meaningful insights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vision models extract features such as water bodies, floods, and vegetation changes from satellite imagery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Convolutional Neural Networks (CNNs) are trained on labeled satellite datasets to classify disasters and environmental patterns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Large Language 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converts technical analysis results into clear, human-readable explanations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enables users to understand results through natural language instead of complex maps or raw numerical data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6"/>
          <p:cNvSpPr txBox="1"/>
          <p:nvPr/>
        </p:nvSpPr>
        <p:spPr>
          <a:xfrm>
            <a:off x="20599" y="0"/>
            <a:ext cx="9102802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problem-solving and analytical thinking abilities were developed while addressing real-world  challenges related to environmental monitoring and disaster management.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project enhanced communication skills through technical documentation, report writing, and explanation of complex concepts in a clear manner.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Teamwork and collaboration skills were strengthened through coordinated planning and integration of multiple system components.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Effective time management and organizational skills were developed while balancing implementation, testing, and documentation tasks. </a:t>
            </a:r>
          </a:p>
          <a:p>
            <a:pPr marL="285750" marR="0" lvl="0" indent="-28575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Exposure to sustainability-focused applications increased ethical awareness and social responsibility. Overall, the project fostered confidence, adaptability, and a professional research-oriented mindset.</a:t>
            </a:r>
            <a:endParaRPr sz="16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  <a:sym typeface="Calibri"/>
            </a:endParaRPr>
          </a:p>
        </p:txBody>
      </p:sp>
      <p:sp>
        <p:nvSpPr>
          <p:cNvPr id="220" name="Google Shape;220;p26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6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26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3" name="Google Shape;223;p26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6"/>
          <p:cNvSpPr txBox="1"/>
          <p:nvPr/>
        </p:nvSpPr>
        <p:spPr>
          <a:xfrm>
            <a:off x="20599" y="758528"/>
            <a:ext cx="90039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50" b="1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25" name="Google Shape;225;p26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26" name="Google Shape;226;p26"/>
          <p:cNvSpPr txBox="1"/>
          <p:nvPr/>
        </p:nvSpPr>
        <p:spPr>
          <a:xfrm>
            <a:off x="2995800" y="1765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 Skills Acquired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7"/>
          <p:cNvSpPr txBox="1"/>
          <p:nvPr/>
        </p:nvSpPr>
        <p:spPr>
          <a:xfrm>
            <a:off x="-16351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7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7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" name="Google Shape;234;p27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7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7"/>
          <p:cNvSpPr txBox="1"/>
          <p:nvPr/>
        </p:nvSpPr>
        <p:spPr>
          <a:xfrm>
            <a:off x="102254" y="761215"/>
            <a:ext cx="8927700" cy="3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rgbClr val="000000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37" name="Google Shape;237;p27"/>
          <p:cNvCxnSpPr/>
          <p:nvPr/>
        </p:nvCxnSpPr>
        <p:spPr>
          <a:xfrm flipH="1">
            <a:off x="231228" y="813651"/>
            <a:ext cx="8648200" cy="6156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38" name="Google Shape;238;p27"/>
          <p:cNvSpPr txBox="1"/>
          <p:nvPr/>
        </p:nvSpPr>
        <p:spPr>
          <a:xfrm>
            <a:off x="2995750" y="176563"/>
            <a:ext cx="30000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Future Scope</a:t>
            </a:r>
            <a:endParaRPr sz="24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841AD43-2B59-FC38-2086-C87FC737AE49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264571" y="1633468"/>
            <a:ext cx="864820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near real-time analysis for floods, fires, droughts, and environmental changes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Adopt advanced AI models such as Vision Transformers, CLIP, and BLIP-2 for improved image–text understanding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Fine-tune Large Language Models using geospatial and environmental datasets for more accurate insights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real-time data from satellites, drones, and IoT sensors for faster disaster monitoring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cloud-based interactive dashboard for wider accessibility and real-world deployment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usage for government agencies, NGOs, and environmental monitoring organizations.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60"/>
          <p:cNvSpPr txBox="1"/>
          <p:nvPr/>
        </p:nvSpPr>
        <p:spPr>
          <a:xfrm>
            <a:off x="0" y="0"/>
            <a:ext cx="9143358" cy="5143500"/>
          </a:xfrm>
          <a:prstGeom prst="rect">
            <a:avLst/>
          </a:prstGeom>
          <a:solidFill>
            <a:schemeClr val="lt1">
              <a:alpha val="96862"/>
            </a:schemeClr>
          </a:solidFill>
          <a:ln w="76200" cap="flat" cmpd="sng">
            <a:solidFill>
              <a:srgbClr val="005893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41575" tIns="20775" rIns="41575" bIns="207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60"/>
          <p:cNvSpPr txBox="1"/>
          <p:nvPr/>
        </p:nvSpPr>
        <p:spPr>
          <a:xfrm>
            <a:off x="2548967" y="607921"/>
            <a:ext cx="66424" cy="6714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8"/>
              <a:buFont typeface="Arial"/>
              <a:buNone/>
            </a:pPr>
            <a:endParaRPr sz="818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60"/>
          <p:cNvSpPr txBox="1"/>
          <p:nvPr/>
        </p:nvSpPr>
        <p:spPr>
          <a:xfrm>
            <a:off x="1141075" y="327787"/>
            <a:ext cx="1968161" cy="66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50" rIns="0" bIns="0" anchor="t" anchorCtr="0">
            <a:spAutoFit/>
          </a:bodyPr>
          <a:lstStyle/>
          <a:p>
            <a:pPr marL="5776" marR="0" lvl="0" indent="0" algn="l" rtl="0">
              <a:lnSpc>
                <a:spcPct val="1119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RV College of 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776" marR="0" lvl="0" indent="0" algn="l" rtl="0">
              <a:lnSpc>
                <a:spcPct val="111904"/>
              </a:lnSpc>
              <a:spcBef>
                <a:spcPts val="45"/>
              </a:spcBef>
              <a:spcAft>
                <a:spcPts val="0"/>
              </a:spcAft>
              <a:buClr>
                <a:srgbClr val="000000"/>
              </a:buClr>
              <a:buSzPts val="1910"/>
              <a:buFont typeface="Arial"/>
              <a:buNone/>
            </a:pPr>
            <a:r>
              <a:rPr lang="en-US" sz="1910" b="1" i="0" u="none" strike="noStrike" cap="none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Engineering</a:t>
            </a:r>
            <a:endParaRPr sz="637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9" name="Google Shape;339;p60"/>
          <p:cNvSpPr txBox="1"/>
          <p:nvPr/>
        </p:nvSpPr>
        <p:spPr>
          <a:xfrm>
            <a:off x="7330747" y="185553"/>
            <a:ext cx="1548681" cy="21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775" rIns="0" bIns="0" anchor="t" anchorCtr="0">
            <a:spAutoFit/>
          </a:bodyPr>
          <a:lstStyle/>
          <a:p>
            <a:pPr marL="5776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64"/>
              <a:buFont typeface="Arial"/>
              <a:buNone/>
            </a:pPr>
            <a:r>
              <a:rPr lang="en-US" sz="1364" b="0" i="1" u="none" strike="noStrike" cap="none">
                <a:solidFill>
                  <a:srgbClr val="422C75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Go, change the world</a:t>
            </a:r>
            <a:endParaRPr sz="637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0" name="Google Shape;340;p60"/>
          <p:cNvPicPr preferRelativeResize="0"/>
          <p:nvPr/>
        </p:nvPicPr>
        <p:blipFill rotWithShape="1">
          <a:blip r:embed="rId4">
            <a:alphaModFix/>
          </a:blip>
          <a:srcRect t="27131" r="52736" b="6919"/>
          <a:stretch/>
        </p:blipFill>
        <p:spPr>
          <a:xfrm>
            <a:off x="-192921" y="93571"/>
            <a:ext cx="2808312" cy="72008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60"/>
          <p:cNvSpPr txBox="1"/>
          <p:nvPr/>
        </p:nvSpPr>
        <p:spPr>
          <a:xfrm>
            <a:off x="0" y="2107619"/>
            <a:ext cx="9038897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0070C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YOU!</a:t>
            </a:r>
            <a:endParaRPr sz="2800" b="1" i="0" u="none" strike="noStrike" cap="none">
              <a:solidFill>
                <a:srgbClr val="0070C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</TotalTime>
  <Words>1960</Words>
  <Application>Microsoft Office PowerPoint</Application>
  <PresentationFormat>On-screen Show (16:9)</PresentationFormat>
  <Paragraphs>201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Calibri</vt:lpstr>
      <vt:lpstr>Playfair Display</vt:lpstr>
      <vt:lpstr>Times New Roman</vt:lpstr>
      <vt:lpstr>Wingdings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pulikunta reddy dhanush</dc:creator>
  <cp:lastModifiedBy>saniya saniya</cp:lastModifiedBy>
  <cp:revision>9</cp:revision>
  <dcterms:modified xsi:type="dcterms:W3CDTF">2026-02-10T06:06:53Z</dcterms:modified>
</cp:coreProperties>
</file>